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74" r:id="rId5"/>
    <p:sldId id="308" r:id="rId6"/>
    <p:sldId id="309" r:id="rId7"/>
    <p:sldId id="344" r:id="rId8"/>
    <p:sldId id="310" r:id="rId9"/>
    <p:sldId id="328" r:id="rId10"/>
    <p:sldId id="329" r:id="rId11"/>
    <p:sldId id="330" r:id="rId12"/>
    <p:sldId id="332" r:id="rId13"/>
    <p:sldId id="334" r:id="rId14"/>
    <p:sldId id="335" r:id="rId15"/>
    <p:sldId id="338" r:id="rId16"/>
    <p:sldId id="337" r:id="rId17"/>
    <p:sldId id="340" r:id="rId18"/>
    <p:sldId id="341" r:id="rId19"/>
    <p:sldId id="346" r:id="rId20"/>
    <p:sldId id="342" r:id="rId21"/>
    <p:sldId id="343" r:id="rId22"/>
    <p:sldId id="34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DDDEA-63BC-40A0-8BC0-D6413F38691F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6F76E-E60C-4C54-B47A-C2C406EC8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8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6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5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3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1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8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3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521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30" name="Picture 6" descr="apple stock down: Apple stock falls 2.65% from the previous close: Why are Apple  stock dropping and how are Trump tariffs impacting U.S. stock futures,  Nasdaq, Dow Jones, and S&amp;P 500 today? -">
            <a:extLst>
              <a:ext uri="{FF2B5EF4-FFF2-40B4-BE49-F238E27FC236}">
                <a16:creationId xmlns:a16="http://schemas.microsoft.com/office/drawing/2014/main" id="{B08B02A7-91B2-542F-F782-B8A4444ED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29" y="0"/>
            <a:ext cx="91813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8278" y="298580"/>
            <a:ext cx="6475444" cy="863082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Algerian" panose="04020705040A02060702" pitchFamily="82" charset="0"/>
              </a:rPr>
              <a:t>Apple stock Forecast </a:t>
            </a:r>
            <a:endParaRPr lang="en-US" sz="4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7145" y="1460242"/>
            <a:ext cx="1724090" cy="590321"/>
          </a:xfrm>
        </p:spPr>
        <p:txBody>
          <a:bodyPr>
            <a:normAutofit fontScale="62500" lnSpcReduction="20000"/>
          </a:bodyPr>
          <a:lstStyle/>
          <a:p>
            <a:r>
              <a:rPr lang="en-US" sz="5400" dirty="0">
                <a:solidFill>
                  <a:schemeClr val="tx1"/>
                </a:solidFill>
                <a:latin typeface="Algerian" panose="04020705040A02060702" pitchFamily="82" charset="0"/>
                <a:ea typeface="+mj-ea"/>
                <a:cs typeface="+mj-cs"/>
              </a:rPr>
              <a:t>Team 4</a:t>
            </a:r>
          </a:p>
        </p:txBody>
      </p:sp>
    </p:spTree>
    <p:extLst>
      <p:ext uri="{BB962C8B-B14F-4D97-AF65-F5344CB8AC3E}">
        <p14:creationId xmlns:p14="http://schemas.microsoft.com/office/powerpoint/2010/main" val="1205248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CADE-88CD-8544-25CF-196D5528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Team</a:t>
            </a:r>
            <a:r>
              <a:rPr lang="en-US" sz="6000" dirty="0"/>
              <a:t> </a:t>
            </a:r>
            <a:r>
              <a:rPr lang="en-US" sz="6000" dirty="0">
                <a:latin typeface="Algerian" panose="04020705040A02060702" pitchFamily="82" charset="0"/>
              </a:rPr>
              <a:t>members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AB296-4D59-7AB5-6C40-C7424F83A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898064"/>
            <a:ext cx="4895877" cy="39599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Bahnschrift" panose="020B0502040204020203" pitchFamily="34" charset="0"/>
              </a:rPr>
              <a:t>TEAM MEMBERS: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Bahnschrift" panose="020B0502040204020203" pitchFamily="34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Prasanth G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Chaitanya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Ms. Gaganasindhu 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Hadagali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Prajwal Ambure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Hari Prasath P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Rahul Kumar Dubey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Ms. Akanksha Bhalerao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A5962-84E8-7D9C-A78B-2DE2AA25EA35}"/>
              </a:ext>
            </a:extLst>
          </p:cNvPr>
          <p:cNvSpPr txBox="1"/>
          <p:nvPr/>
        </p:nvSpPr>
        <p:spPr>
          <a:xfrm>
            <a:off x="662060" y="1943957"/>
            <a:ext cx="6052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ahnschrift" panose="020B0502040204020203" pitchFamily="34" charset="0"/>
              </a:rPr>
              <a:t>MENTOR’S NAME : </a:t>
            </a:r>
            <a:r>
              <a:rPr lang="en-IN" sz="2800" dirty="0">
                <a:latin typeface="Bahnschrift" panose="020B0502040204020203" pitchFamily="34" charset="0"/>
                <a:cs typeface="Times New Roman" panose="02020603050405020304" pitchFamily="18" charset="0"/>
              </a:rPr>
              <a:t>ABIRAMI</a:t>
            </a:r>
            <a:r>
              <a:rPr lang="en-IN" sz="2800" b="1" dirty="0">
                <a:latin typeface="Bahnschrift" panose="020B0502040204020203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1890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A27E-D9CF-3BD0-71DB-F83E0547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40" y="701636"/>
            <a:ext cx="11029616" cy="11887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Algerian" panose="04020705040A02060702" pitchFamily="82" charset="0"/>
              </a:rPr>
              <a:t>Business Objective</a:t>
            </a:r>
            <a:br>
              <a:rPr lang="en-IN" sz="28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B3EA-473B-995D-F283-BDB30426F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3623"/>
            <a:ext cx="11306008" cy="3634486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the Investors, traders, and financial analysts monitor stock prices to make buy/sell decisions. Predict the apple stock market price for the next 30 days. The dataset contains financial, economic, and sentiment-related variables that influence Apple's stock price. Below is a breakdown of each variable, its meaning, and real-world impact on financial markets.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33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B072-AAB0-D71D-C07A-724C61E9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735" y="882650"/>
            <a:ext cx="4254969" cy="60325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884D4-2A25-7584-B71A-ED92C7F2A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94" y="1595534"/>
            <a:ext cx="11138057" cy="4637315"/>
          </a:xfrm>
        </p:spPr>
        <p:txBody>
          <a:bodyPr/>
          <a:lstStyle/>
          <a:p>
            <a:r>
              <a:rPr lang="en-US" sz="2000" dirty="0"/>
              <a:t>The dataset used in this project consists of historical daily Apple stock price records collected over a defined time period from the financial market.</a:t>
            </a:r>
          </a:p>
          <a:p>
            <a:r>
              <a:rPr lang="en-US" sz="2000" dirty="0"/>
              <a:t>Each data entry corresponds to a specific trading day, ensuring that the dataset follows a strict chronological order, which is essential for time-series analysis.</a:t>
            </a:r>
          </a:p>
          <a:p>
            <a:r>
              <a:rPr lang="en-US" sz="2000" dirty="0"/>
              <a:t>Each data entry corresponds to a specific trading day, ensuring that the dataset follows a strict chronological order, which is essential for time-series analysis.</a:t>
            </a:r>
          </a:p>
          <a:p>
            <a:r>
              <a:rPr lang="en-US" sz="2000" dirty="0"/>
              <a:t>Each data entry corresponds to a specific trading day, ensuring that the dataset follows a strict chronological order, which is essential for time-series analysis.</a:t>
            </a:r>
          </a:p>
          <a:p>
            <a:r>
              <a:rPr lang="en-US" sz="2000" dirty="0"/>
              <a:t>Since the data reflects real-world market conditions, it is well-suited for training a SARIMA time-series forecasting model.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386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E933-BDA5-F837-9ED8-F1AC4009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408" y="670028"/>
            <a:ext cx="7262979" cy="96714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4800" dirty="0">
                <a:latin typeface="Algerian" panose="04020705040A02060702" pitchFamily="82" charset="0"/>
              </a:rPr>
              <a:t>Project architecture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C1A674-FF01-3455-1572-23D758C27DD9}"/>
              </a:ext>
            </a:extLst>
          </p:cNvPr>
          <p:cNvSpPr/>
          <p:nvPr/>
        </p:nvSpPr>
        <p:spPr>
          <a:xfrm>
            <a:off x="4745455" y="2531435"/>
            <a:ext cx="2570459" cy="1369296"/>
          </a:xfrm>
          <a:prstGeom prst="roundRect">
            <a:avLst>
              <a:gd name="adj" fmla="val 22118"/>
            </a:avLst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  <a:endParaRPr lang="en-IN" sz="2400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4E6977-4C9B-F494-390F-A06E12414EEA}"/>
              </a:ext>
            </a:extLst>
          </p:cNvPr>
          <p:cNvSpPr/>
          <p:nvPr/>
        </p:nvSpPr>
        <p:spPr>
          <a:xfrm>
            <a:off x="8665912" y="2531435"/>
            <a:ext cx="2558002" cy="1401417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9778C7-7DBF-9DE3-10AB-C5D3BE2BF564}"/>
              </a:ext>
            </a:extLst>
          </p:cNvPr>
          <p:cNvSpPr/>
          <p:nvPr/>
        </p:nvSpPr>
        <p:spPr>
          <a:xfrm>
            <a:off x="8665912" y="4952730"/>
            <a:ext cx="2558002" cy="1401417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534826-1718-9B36-6BF6-1C592FC1CA41}"/>
              </a:ext>
            </a:extLst>
          </p:cNvPr>
          <p:cNvSpPr/>
          <p:nvPr/>
        </p:nvSpPr>
        <p:spPr>
          <a:xfrm>
            <a:off x="4555883" y="4984852"/>
            <a:ext cx="2760031" cy="1369295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C11206D-7C27-8DFB-C1E3-701EC2C9FC49}"/>
              </a:ext>
            </a:extLst>
          </p:cNvPr>
          <p:cNvSpPr/>
          <p:nvPr/>
        </p:nvSpPr>
        <p:spPr>
          <a:xfrm>
            <a:off x="3496794" y="2973767"/>
            <a:ext cx="978408" cy="484632"/>
          </a:xfrm>
          <a:prstGeom prst="righ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D177916-3B02-3554-14F9-65F6CA3F1014}"/>
              </a:ext>
            </a:extLst>
          </p:cNvPr>
          <p:cNvSpPr/>
          <p:nvPr/>
        </p:nvSpPr>
        <p:spPr>
          <a:xfrm>
            <a:off x="7478739" y="2973767"/>
            <a:ext cx="978408" cy="484632"/>
          </a:xfrm>
          <a:prstGeom prst="righ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F1710B3-5D3F-7684-689B-4006D19BD573}"/>
              </a:ext>
            </a:extLst>
          </p:cNvPr>
          <p:cNvSpPr/>
          <p:nvPr/>
        </p:nvSpPr>
        <p:spPr>
          <a:xfrm>
            <a:off x="9702597" y="3990862"/>
            <a:ext cx="484632" cy="903857"/>
          </a:xfrm>
          <a:prstGeom prst="down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32C75096-6C57-43A9-B37B-3F1AEA0ECE69}"/>
              </a:ext>
            </a:extLst>
          </p:cNvPr>
          <p:cNvSpPr/>
          <p:nvPr/>
        </p:nvSpPr>
        <p:spPr>
          <a:xfrm>
            <a:off x="7514652" y="5427183"/>
            <a:ext cx="978408" cy="484632"/>
          </a:xfrm>
          <a:prstGeom prst="lef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7F21C2E-4AF5-5E84-B71E-00DE79DA9DCE}"/>
              </a:ext>
            </a:extLst>
          </p:cNvPr>
          <p:cNvSpPr/>
          <p:nvPr/>
        </p:nvSpPr>
        <p:spPr>
          <a:xfrm>
            <a:off x="656082" y="2621566"/>
            <a:ext cx="2570459" cy="1369296"/>
          </a:xfrm>
          <a:prstGeom prst="roundRect">
            <a:avLst>
              <a:gd name="adj" fmla="val 22118"/>
            </a:avLst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2400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5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0F00-777E-9101-379A-BA6305E1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823" y="537417"/>
            <a:ext cx="3272351" cy="834183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EDA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95046-31CA-BE38-776F-0710E47B7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47" y="1235400"/>
            <a:ext cx="11399314" cy="5085183"/>
          </a:xfrm>
        </p:spPr>
        <p:txBody>
          <a:bodyPr/>
          <a:lstStyle/>
          <a:p>
            <a:r>
              <a:rPr lang="en-US" sz="2400" dirty="0"/>
              <a:t>Exploratory Data Analysis (EDA) is a crucial step in understanding the structure and behavior of historical Apple stock price data before applying forecasting models. </a:t>
            </a:r>
          </a:p>
          <a:p>
            <a:r>
              <a:rPr lang="en-US" sz="2400" dirty="0"/>
              <a:t>This phase focuses on analyzing data distribution, identifying trends, and detecting patterns over time. </a:t>
            </a:r>
          </a:p>
          <a:p>
            <a:r>
              <a:rPr lang="en-US" sz="2400" dirty="0"/>
              <a:t>EDA helps verify data quality and ensures that the dataset is suitable for time-series forecasting.</a:t>
            </a:r>
          </a:p>
          <a:p>
            <a:r>
              <a:rPr lang="en-US" sz="2400" dirty="0"/>
              <a:t>Through visual and statistical analysis, important insights about stock price movement are obtained.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05132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F414-9FB4-AEA5-2AB7-3FD3134D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991" y="522514"/>
            <a:ext cx="7516017" cy="671804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Time-Series Visualization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1256-B602-2E57-B672-DEB1692B4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3084" y="1544216"/>
            <a:ext cx="6008916" cy="4791270"/>
          </a:xfrm>
        </p:spPr>
        <p:txBody>
          <a:bodyPr>
            <a:normAutofit/>
          </a:bodyPr>
          <a:lstStyle/>
          <a:p>
            <a:r>
              <a:rPr lang="en-US" sz="2000" dirty="0"/>
              <a:t>In this step, the historical Apple stock prices are visualized using time-series line plots. </a:t>
            </a:r>
          </a:p>
          <a:p>
            <a:r>
              <a:rPr lang="en-US" sz="2000" dirty="0"/>
              <a:t>The visualization clearly shows how stock prices fluctuate over different time periods.</a:t>
            </a:r>
          </a:p>
          <a:p>
            <a:r>
              <a:rPr lang="en-US" sz="2000" dirty="0"/>
              <a:t>Sudden rises, falls, and stable phases can be easily identified through this graphical representation. </a:t>
            </a:r>
          </a:p>
          <a:p>
            <a:r>
              <a:rPr lang="en-US" sz="2000" dirty="0"/>
              <a:t>Time-series visualization helps in understanding the overall direction and volatility of stock prices.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2EEFB2-B5D7-1ECE-5DC7-708F504DF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3196"/>
            <a:ext cx="6096000" cy="547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34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AE63-8AA5-5B55-7332-E9B779F7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116" y="671803"/>
            <a:ext cx="6083768" cy="519276"/>
          </a:xfrm>
        </p:spPr>
        <p:txBody>
          <a:bodyPr>
            <a:norm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Stock Price Movement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4BC0B6-A42E-B8B1-AB5B-3898A118E4BA}"/>
              </a:ext>
            </a:extLst>
          </p:cNvPr>
          <p:cNvSpPr txBox="1"/>
          <p:nvPr/>
        </p:nvSpPr>
        <p:spPr>
          <a:xfrm>
            <a:off x="6578082" y="1660907"/>
            <a:ext cx="51878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By observing the line plot, fluctuations in Apple stock prices can be clearly seen.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These fluctuations reflect real market behavior influenced by external and internal factors.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This analysis confirms that the data contains meaningful patterns for forecasting.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676B42-3DEC-CD75-6CE8-E376FE455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450" y="1968534"/>
            <a:ext cx="6005513" cy="3078094"/>
          </a:xfrm>
        </p:spPr>
      </p:pic>
    </p:spTree>
    <p:extLst>
      <p:ext uri="{BB962C8B-B14F-4D97-AF65-F5344CB8AC3E}">
        <p14:creationId xmlns:p14="http://schemas.microsoft.com/office/powerpoint/2010/main" val="3229660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42B1-7B91-EFAD-2CC2-F9FD186D5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764" y="738113"/>
            <a:ext cx="6886201" cy="46329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Pattern Observation in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60A0E-D9C0-16A3-CC33-FB68ADE15EFB}"/>
              </a:ext>
            </a:extLst>
          </p:cNvPr>
          <p:cNvSpPr txBox="1"/>
          <p:nvPr/>
        </p:nvSpPr>
        <p:spPr>
          <a:xfrm>
            <a:off x="545632" y="1396354"/>
            <a:ext cx="1110073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time-series visualization reveals repeating movements and variations in stock prices over time.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Observing such patterns is important for selecting an appropriate forecasting model. This observation supports the use of SARIMA for prediction.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Exploratory Data Analysis confirms that the dataset is well-structured, consistent, and free from missing values. 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These characteristics make the dataset suitable for time-series forecasting. 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Based on EDA results, the data is ready for SARIMA model building and forecasting.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5362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E370-DB8C-97F7-267E-6373707F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847" y="121297"/>
            <a:ext cx="6536304" cy="1147667"/>
          </a:xfrm>
        </p:spPr>
        <p:txBody>
          <a:bodyPr>
            <a:no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MODEL BUILDING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27AE6-2CBC-FE69-D100-AE5C4619D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335" y="1184988"/>
            <a:ext cx="11138057" cy="5868955"/>
          </a:xfrm>
        </p:spPr>
        <p:txBody>
          <a:bodyPr>
            <a:normAutofit/>
          </a:bodyPr>
          <a:lstStyle/>
          <a:p>
            <a:r>
              <a:rPr lang="en-US" sz="2800" dirty="0"/>
              <a:t>In the model building phase, multiple forecasting models were explored and trained using historical Apple stock price data to identify the most suitable approach. </a:t>
            </a:r>
          </a:p>
          <a:p>
            <a:r>
              <a:rPr lang="en-US" sz="2800" dirty="0"/>
              <a:t>Both statistical time-series models and machine learning models were considered for comparison. </a:t>
            </a:r>
          </a:p>
          <a:p>
            <a:r>
              <a:rPr lang="en-US" sz="2800" dirty="0"/>
              <a:t>The goal of this phase was to evaluate different models based on their ability to capture time-dependent patterns and generate reliable forecasts. </a:t>
            </a:r>
          </a:p>
          <a:p>
            <a:r>
              <a:rPr lang="en-US" sz="2800" dirty="0"/>
              <a:t>This comparative approach ensures that the final selected model provides the best forecasting performance.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1008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C667-16EE-C808-4BE1-DB312E2A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839" y="886408"/>
            <a:ext cx="8262466" cy="746449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Models Considered for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8E49-6683-0ECA-ED8E-23BD9B46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952"/>
            <a:ext cx="11029615" cy="4451823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Several forecasting models were trained during this project, including ARIMA, SARIMA, VAR, and Random Forest.</a:t>
            </a:r>
          </a:p>
          <a:p>
            <a:r>
              <a:rPr lang="en-US" sz="2800" dirty="0"/>
              <a:t>ARIMA was used to capture basic autoregressive and moving average patterns in the time-series data.</a:t>
            </a:r>
          </a:p>
          <a:p>
            <a:r>
              <a:rPr lang="en-US" sz="2800" dirty="0"/>
              <a:t>VAR was explored to understand multivariate relationships in time-dependent data.</a:t>
            </a:r>
          </a:p>
          <a:p>
            <a:r>
              <a:rPr lang="en-US" sz="2800" dirty="0"/>
              <a:t>Random Forest was applied as a machine learning approach to analyze non-linear patterns.</a:t>
            </a:r>
          </a:p>
          <a:p>
            <a:r>
              <a:rPr lang="en-US" sz="2800" dirty="0"/>
              <a:t>Each model was trained on the same historical dataset to ensure fair comparison.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63611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55161-4BC2-D0AF-16D0-D407CB4A8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101"/>
            <a:ext cx="6410131" cy="51225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15303C-F589-31C3-D4D0-A553165A9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312" y="714699"/>
            <a:ext cx="7645765" cy="537937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MODEL EVALUATION and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1D8E4-42A3-9BEB-9C31-C4D7F25F9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52636"/>
            <a:ext cx="6133738" cy="5353437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After training, the models were evaluated based on forecasting accuracy, stability, and suitability for time-series data. ARIMA captured trends but lacked seasonal handling. </a:t>
            </a:r>
          </a:p>
          <a:p>
            <a:r>
              <a:rPr lang="en-US" sz="2800" dirty="0"/>
              <a:t>VAR required multiple correlated variables and was less effective for single-stock forecasting. Random Forest performed reasonably but did not naturally handle time dependency without extensive feature engineering. </a:t>
            </a:r>
          </a:p>
          <a:p>
            <a:r>
              <a:rPr lang="en-US" sz="2800" dirty="0"/>
              <a:t>These observations highlighted the need for a model that could effectively manage seasonality and temporal patterns.</a:t>
            </a:r>
          </a:p>
        </p:txBody>
      </p:sp>
    </p:spTree>
    <p:extLst>
      <p:ext uri="{BB962C8B-B14F-4D97-AF65-F5344CB8AC3E}">
        <p14:creationId xmlns:p14="http://schemas.microsoft.com/office/powerpoint/2010/main" val="2560769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5287-005F-4933-380B-8EDEFCD4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273" y="746449"/>
            <a:ext cx="7620416" cy="632451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Final Model Selection – SARIMA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BEC99-C939-1582-C96E-CCF60711E321}"/>
              </a:ext>
            </a:extLst>
          </p:cNvPr>
          <p:cNvSpPr txBox="1"/>
          <p:nvPr/>
        </p:nvSpPr>
        <p:spPr>
          <a:xfrm>
            <a:off x="339012" y="1912776"/>
            <a:ext cx="115139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SARIMA was selected as the final model because it effectively handles both trend and seasonal components in time-series data.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It provided more stable and realistic forecasts compared to other models.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 SARIMA also required fewer external features and aligned well with the univariate nature of stock price data. 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Due to its reliability and forecasting performance, SARIMA was chosen for deployment.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94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694C-40A9-18DE-BD54-D62B2A58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421" y="386248"/>
            <a:ext cx="5561257" cy="992803"/>
          </a:xfrm>
        </p:spPr>
        <p:txBody>
          <a:bodyPr>
            <a:no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DEPLOYMENT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3A8F-2152-CF40-4C87-C61815EC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80727"/>
            <a:ext cx="11029615" cy="3894623"/>
          </a:xfrm>
        </p:spPr>
        <p:txBody>
          <a:bodyPr>
            <a:normAutofit/>
          </a:bodyPr>
          <a:lstStyle/>
          <a:p>
            <a:r>
              <a:rPr lang="en-US" sz="2800" dirty="0"/>
              <a:t>Deployment is the final stage of the project where the trained SARIMA forecasting model is integrated into a user-accessible application. </a:t>
            </a:r>
          </a:p>
          <a:p>
            <a:r>
              <a:rPr lang="en-US" sz="2800" dirty="0"/>
              <a:t>The purpose of deployment is to convert the developed model into a practical system that can generate real-time stock price forecasts. </a:t>
            </a:r>
          </a:p>
          <a:p>
            <a:r>
              <a:rPr lang="en-US" sz="2800" dirty="0"/>
              <a:t>This phase ensures that the forecasting solution can be used by non-technical users without requiring knowledge of data science or programming.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130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9104-13FA-1FB0-9A7A-9E5789B8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051" y="457200"/>
            <a:ext cx="5649895" cy="105435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Application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D544-930B-4AE9-515C-CC12100D8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88841"/>
            <a:ext cx="11029615" cy="4286509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The deployment architecture follows a simple and effective design where the trained SARIMA model is connected to a web-based application. </a:t>
            </a:r>
          </a:p>
          <a:p>
            <a:r>
              <a:rPr lang="en-US" sz="2800" dirty="0"/>
              <a:t>Historical stock price data and the trained model are stored on the backend. </a:t>
            </a:r>
          </a:p>
          <a:p>
            <a:r>
              <a:rPr lang="en-US" sz="2800" dirty="0"/>
              <a:t>When a user interacts with the application, the system loads the saved model and generates forecasts for the next 30 days. </a:t>
            </a:r>
          </a:p>
          <a:p>
            <a:r>
              <a:rPr lang="en-US" sz="2800" dirty="0"/>
              <a:t>The results are then processed and displayed to the user in both tabular and graphical formats. This architecture ensures fast response time and avoids repeated model training.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24193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46F6F4-C436-077F-6F3C-F15B973B9764}"/>
              </a:ext>
            </a:extLst>
          </p:cNvPr>
          <p:cNvSpPr txBox="1"/>
          <p:nvPr/>
        </p:nvSpPr>
        <p:spPr>
          <a:xfrm>
            <a:off x="3623388" y="1682620"/>
            <a:ext cx="5262465" cy="1558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B4CF0-970D-20B8-53B0-AF01B3FD586D}"/>
              </a:ext>
            </a:extLst>
          </p:cNvPr>
          <p:cNvSpPr txBox="1"/>
          <p:nvPr/>
        </p:nvSpPr>
        <p:spPr>
          <a:xfrm>
            <a:off x="1978090" y="1835020"/>
            <a:ext cx="8649477" cy="1558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0A9D2-49C2-7757-C9D6-B455E991752A}"/>
              </a:ext>
            </a:extLst>
          </p:cNvPr>
          <p:cNvSpPr txBox="1"/>
          <p:nvPr/>
        </p:nvSpPr>
        <p:spPr>
          <a:xfrm>
            <a:off x="3237721" y="513441"/>
            <a:ext cx="557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cap="all" dirty="0">
                <a:latin typeface="Algerian" panose="04020705040A02060702" pitchFamily="82" charset="0"/>
              </a:rPr>
              <a:t>Application interface</a:t>
            </a:r>
            <a:endParaRPr lang="en-IN" sz="3600" dirty="0">
              <a:latin typeface="Algerian" panose="04020705040A02060702" pitchFamily="82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2C68598-AF7A-C4DC-17C4-F6962A23F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6" y="1283255"/>
            <a:ext cx="5716555" cy="521085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F9866FD-837C-456F-2D22-B1DB29F66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575" y="1283255"/>
            <a:ext cx="5716556" cy="521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55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5806-A0F5-16E1-BF57-76343AF1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4715" y="541175"/>
            <a:ext cx="4933200" cy="702129"/>
          </a:xfrm>
        </p:spPr>
        <p:txBody>
          <a:bodyPr>
            <a:norm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APPLICATION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81BC32-A35B-3B66-4374-D5F967E9B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82" y="1343609"/>
            <a:ext cx="9685176" cy="526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45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1514-0395-718F-8DFE-23879FD6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710" y="621910"/>
            <a:ext cx="7362062" cy="970385"/>
          </a:xfrm>
        </p:spPr>
        <p:txBody>
          <a:bodyPr>
            <a:no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CHALLENGES FACED DURING THE PROJECT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1DF28E-DAFF-81C7-C837-158DF4604B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760" y="1932970"/>
            <a:ext cx="1125647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Handling time-series stock price data while maintaining correct chronological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Understanding trend and seasonal behavior present in financial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Comparing multiple models and selecting the most suitable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Tuning SARIMA parameters to improve forecasting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Generating future business-day dates for realistic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Deploying the trained model into a simple and user-friendly application.</a:t>
            </a:r>
          </a:p>
        </p:txBody>
      </p:sp>
    </p:spTree>
    <p:extLst>
      <p:ext uri="{BB962C8B-B14F-4D97-AF65-F5344CB8AC3E}">
        <p14:creationId xmlns:p14="http://schemas.microsoft.com/office/powerpoint/2010/main" val="62932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2D59-4724-6F07-FF2B-43C3DBC7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93AFF1-2FBB-29FB-3FE2-C3ABF26548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34561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spect">
      <a:dk1>
        <a:sysClr val="windowText" lastClr="000000"/>
      </a:dk1>
      <a:lt1>
        <a:sysClr val="window" lastClr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6D3478-2986-4664-940C-67E0CAA21E0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16C154-5A0F-4CDC-8C15-D2E2158464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6C3F92-CC28-42D8-BF09-0770755510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{43969F7E-D951-4629-B3E2-667C3A73D8D8}tf56535239_win32</Template>
  <TotalTime>430</TotalTime>
  <Words>1060</Words>
  <Application>Microsoft Office PowerPoint</Application>
  <PresentationFormat>Widescreen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Algerian</vt:lpstr>
      <vt:lpstr>Bahnschrift</vt:lpstr>
      <vt:lpstr>Calibri</vt:lpstr>
      <vt:lpstr>Century Schoolbook</vt:lpstr>
      <vt:lpstr>Franklin Gothic Book</vt:lpstr>
      <vt:lpstr>Franklin Gothic Demi</vt:lpstr>
      <vt:lpstr>Times New Roman</vt:lpstr>
      <vt:lpstr>Tw Cen MT</vt:lpstr>
      <vt:lpstr>Wingdings</vt:lpstr>
      <vt:lpstr>Wingdings 2</vt:lpstr>
      <vt:lpstr>DividendVTI</vt:lpstr>
      <vt:lpstr>Apple stock Forecast </vt:lpstr>
      <vt:lpstr>Team members</vt:lpstr>
      <vt:lpstr>Business Objective </vt:lpstr>
      <vt:lpstr>DATASET DETAILS</vt:lpstr>
      <vt:lpstr>Project architecture</vt:lpstr>
      <vt:lpstr>EDA OVERVIEW</vt:lpstr>
      <vt:lpstr>Time-Series Visualization Analysis</vt:lpstr>
      <vt:lpstr>Stock Price Movement Analysis</vt:lpstr>
      <vt:lpstr>Pattern Observation in Data</vt:lpstr>
      <vt:lpstr>MODEL BUILDING OVERVIEW</vt:lpstr>
      <vt:lpstr>Models Considered for Forecasting</vt:lpstr>
      <vt:lpstr>MODEL EVALUATION and Comparison</vt:lpstr>
      <vt:lpstr>Final Model Selection – SARIMA</vt:lpstr>
      <vt:lpstr>DEPLOYMENT OVERVIEW</vt:lpstr>
      <vt:lpstr>Application interface</vt:lpstr>
      <vt:lpstr>PowerPoint Presentation</vt:lpstr>
      <vt:lpstr>APPLICATION INTERFACE</vt:lpstr>
      <vt:lpstr>CHALLENGES FACED DURING THE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Classification</dc:title>
  <dc:creator>Prajwal Ambure</dc:creator>
  <cp:lastModifiedBy>Hari prasath</cp:lastModifiedBy>
  <cp:revision>41</cp:revision>
  <dcterms:created xsi:type="dcterms:W3CDTF">2023-03-09T05:27:04Z</dcterms:created>
  <dcterms:modified xsi:type="dcterms:W3CDTF">2026-02-03T12:02:09Z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